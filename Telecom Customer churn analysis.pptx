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77" r:id="rId5"/>
    <p:sldId id="258" r:id="rId6"/>
    <p:sldId id="269" r:id="rId7"/>
    <p:sldId id="260" r:id="rId8"/>
    <p:sldId id="261" r:id="rId9"/>
    <p:sldId id="262" r:id="rId10"/>
    <p:sldId id="263" r:id="rId11"/>
    <p:sldId id="264" r:id="rId12"/>
    <p:sldId id="265" r:id="rId13"/>
    <p:sldId id="266" r:id="rId14"/>
    <p:sldId id="281" r:id="rId15"/>
    <p:sldId id="280" r:id="rId16"/>
    <p:sldId id="284" r:id="rId17"/>
    <p:sldId id="279" r:id="rId18"/>
    <p:sldId id="278" r:id="rId19"/>
    <p:sldId id="259" r:id="rId20"/>
  </p:sldIdLst>
  <p:sldSz cx="12192000" cy="6858000"/>
  <p:notesSz cx="6858000" cy="9144000"/>
  <p:embeddedFontLst>
    <p:embeddedFont>
      <p:font typeface="Calibri" panose="020F0502020204030204"/>
      <p:regular r:id="rId24"/>
      <p:bold r:id="rId25"/>
      <p:italic r:id="rId26"/>
      <p:boldItalic r:id="rId27"/>
    </p:embeddedFont>
    <p:embeddedFont>
      <p:font typeface="Calibri" panose="020F0502020204030204" charset="0"/>
      <p:regular r:id="rId28"/>
      <p:bold r:id="rId29"/>
      <p:italic r:id="rId30"/>
      <p:boldItalic r:id="rId31"/>
    </p:embeddedFont>
    <p:embeddedFont>
      <p:font typeface="Arial Black" panose="020B0A04020102020204" charset="0"/>
      <p:bold r:id="rId32"/>
    </p:embeddedFont>
    <p:embeddedFont>
      <p:font typeface="Libre Baskerville" panose="0200000000000000000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1" name="Shape 21"/>
        <p:cNvGrpSpPr/>
        <p:nvPr/>
      </p:nvGrpSpPr>
      <p:grpSpPr>
        <a:xfrm>
          <a:off x="0" y="0"/>
          <a:ext cx="0" cy="0"/>
          <a:chOff x="0" y="0"/>
          <a:chExt cx="0" cy="0"/>
        </a:xfrm>
      </p:grpSpPr>
      <p:sp>
        <p:nvSpPr>
          <p:cNvPr id="22" name="Google Shape;22;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type="pic" idx="2"/>
          </p:nvPr>
        </p:nvSpPr>
        <p:spPr>
          <a:xfrm>
            <a:off x="5183188" y="987425"/>
            <a:ext cx="6172200" cy="4873625"/>
          </a:xfrm>
          <a:prstGeom prst="rect">
            <a:avLst/>
          </a:prstGeom>
          <a:noFill/>
          <a:ln>
            <a:noFill/>
          </a:ln>
        </p:spPr>
      </p:sp>
      <p:sp>
        <p:nvSpPr>
          <p:cNvPr id="76" name="Google Shape;76;p15"/>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592" y="0"/>
            <a:ext cx="12190815" cy="6694098"/>
          </a:xfrm>
          <a:prstGeom prst="rect">
            <a:avLst/>
          </a:prstGeom>
          <a:noFill/>
          <a:ln>
            <a:noFill/>
          </a:ln>
        </p:spPr>
      </p:pic>
      <p:sp>
        <p:nvSpPr>
          <p:cNvPr id="99" name="Google Shape;99;p1"/>
          <p:cNvSpPr txBox="1"/>
          <p:nvPr/>
        </p:nvSpPr>
        <p:spPr>
          <a:xfrm>
            <a:off x="2672715" y="3573145"/>
            <a:ext cx="6683375" cy="18751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altLang="en-US" sz="28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a:t>
            </a:r>
            <a:endParaRPr lang="en-IN" altLang="en-US" sz="28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IN" altLang="en-US" sz="32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Telecom </a:t>
            </a:r>
            <a:r>
              <a:rPr lang="en-US" altLang="en-US" sz="32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Customer Churn Analysis</a:t>
            </a:r>
            <a:endParaRPr lang="en-US" altLang="en-US" sz="32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endParaRPr lang="en-US" altLang="en-US" sz="28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IN" altLang="en-US" sz="28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By :                                                                                                 </a:t>
            </a:r>
            <a:endParaRPr lang="en-IN" altLang="en-US" sz="28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Text Box 1"/>
          <p:cNvSpPr txBox="1"/>
          <p:nvPr/>
        </p:nvSpPr>
        <p:spPr>
          <a:xfrm>
            <a:off x="8472805" y="5589270"/>
            <a:ext cx="2581275" cy="1076325"/>
          </a:xfrm>
          <a:prstGeom prst="rect">
            <a:avLst/>
          </a:prstGeom>
          <a:noFill/>
        </p:spPr>
        <p:txBody>
          <a:bodyPr wrap="square" rtlCol="0">
            <a:spAutoFit/>
          </a:bodyPr>
          <a:p>
            <a:r>
              <a:rPr lang="en-IN" altLang="en-US" sz="3200">
                <a:latin typeface="Times New Roman" panose="02020603050405020304" charset="0"/>
                <a:cs typeface="Times New Roman" panose="02020603050405020304" charset="0"/>
              </a:rPr>
              <a:t>A.Hashritha</a:t>
            </a:r>
            <a:endParaRPr lang="en-IN" altLang="en-US" sz="3200">
              <a:latin typeface="Times New Roman" panose="02020603050405020304" charset="0"/>
              <a:cs typeface="Times New Roman" panose="02020603050405020304" charset="0"/>
            </a:endParaRPr>
          </a:p>
          <a:p>
            <a:r>
              <a:rPr lang="en-IN" altLang="en-US" sz="3200">
                <a:latin typeface="Times New Roman" panose="02020603050405020304" charset="0"/>
                <a:cs typeface="Times New Roman" panose="02020603050405020304" charset="0"/>
              </a:rPr>
              <a:t>Batch - 502</a:t>
            </a:r>
            <a:endParaRPr lang="en-IN" altLang="en-US" sz="32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443865" y="164465"/>
            <a:ext cx="10909935" cy="1529080"/>
          </a:xfrm>
        </p:spPr>
        <p:txBody>
          <a:bodyPr/>
          <a:p>
            <a:r>
              <a:rPr lang="en-IN" altLang="en-US">
                <a:solidFill>
                  <a:srgbClr val="FF0000"/>
                </a:solidFill>
                <a:latin typeface="Times New Roman" panose="02020603050405020304" charset="0"/>
                <a:cs typeface="Times New Roman" panose="02020603050405020304" charset="0"/>
              </a:rPr>
              <a:t>About Me :</a:t>
            </a:r>
            <a:endParaRPr lang="en-IN" altLang="en-US"/>
          </a:p>
        </p:txBody>
      </p:sp>
      <p:sp>
        <p:nvSpPr>
          <p:cNvPr id="5" name="Text Box 4"/>
          <p:cNvSpPr txBox="1"/>
          <p:nvPr/>
        </p:nvSpPr>
        <p:spPr>
          <a:xfrm>
            <a:off x="274320" y="1694180"/>
            <a:ext cx="8869680" cy="4635500"/>
          </a:xfrm>
          <a:prstGeom prst="rect">
            <a:avLst/>
          </a:prstGeom>
          <a:noFill/>
        </p:spPr>
        <p:txBody>
          <a:bodyPr wrap="square" rtlCol="0" anchor="t">
            <a:noAutofit/>
          </a:bodyPr>
          <a:p>
            <a:pPr marL="285750" marR="0" lvl="0" indent="-323850" algn="l" rtl="0">
              <a:lnSpc>
                <a:spcPct val="100000"/>
              </a:lnSpc>
              <a:spcBef>
                <a:spcPts val="0"/>
              </a:spcBef>
              <a:spcAft>
                <a:spcPts val="0"/>
              </a:spcAft>
              <a:buClr>
                <a:schemeClr val="dk1"/>
              </a:buClr>
              <a:buSzPts val="2400"/>
              <a:buFont typeface="Arial" panose="020B0604020202020204"/>
              <a:buChar char="•"/>
            </a:pPr>
            <a:r>
              <a:rPr lang="en-IN" sz="2400" b="1">
                <a:solidFill>
                  <a:srgbClr val="FF0000"/>
                </a:solidFill>
                <a:latin typeface="Calibri" panose="020F0502020204030204"/>
                <a:ea typeface="Calibri" panose="020F0502020204030204"/>
                <a:cs typeface="Calibri" panose="020F0502020204030204"/>
                <a:sym typeface="Calibri" panose="020F0502020204030204"/>
              </a:rPr>
              <a:t>Background :</a:t>
            </a:r>
            <a:endParaRPr lang="en-IN" sz="2400" b="1">
              <a:solidFill>
                <a:srgbClr val="FF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    Btech(Computer Science Engineering)</a:t>
            </a:r>
            <a:endParaRPr lang="en-IN" sz="2400" b="1">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Arial" panose="020B0604020202020204"/>
              <a:buChar char="•"/>
            </a:pPr>
            <a:endParaRPr sz="24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Arial" panose="020B0604020202020204"/>
              <a:buChar char="•"/>
            </a:pPr>
            <a:r>
              <a:rPr lang="en-IN" sz="2400" b="1">
                <a:solidFill>
                  <a:srgbClr val="FF0000"/>
                </a:solidFill>
                <a:latin typeface="Calibri" panose="020F0502020204030204"/>
                <a:ea typeface="Calibri" panose="020F0502020204030204"/>
                <a:cs typeface="Calibri" panose="020F0502020204030204"/>
                <a:sym typeface="Calibri" panose="020F0502020204030204"/>
              </a:rPr>
              <a:t>Why you want to learn Data Science :</a:t>
            </a:r>
            <a:endParaRPr lang="en-IN" sz="2400" b="1">
              <a:solidFill>
                <a:srgbClr val="FF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r>
              <a:rPr lang="en-IN"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rPr>
              <a:t>    </a:t>
            </a:r>
            <a:r>
              <a:rPr lang="en-US"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rPr>
              <a:t>I want to learn Data Science because it helps turn raw data into </a:t>
            </a:r>
            <a:r>
              <a:rPr lang="en-IN"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rPr>
              <a:t>             </a:t>
            </a:r>
            <a:r>
              <a:rPr lang="en-US"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rPr>
              <a:t>meaningful insights that support better decision-making</a:t>
            </a:r>
            <a:endParaRPr lang="en-US"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Arial" panose="020B0604020202020204"/>
              <a:buChar char="•"/>
            </a:pPr>
            <a:endParaRPr lang="en-US" altLang="en-US" sz="2400" b="1" i="0" u="none" strike="noStrike" cap="none">
              <a:solidFill>
                <a:schemeClr val="tx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Arial" panose="020B0604020202020204"/>
              <a:buChar char="•"/>
            </a:pPr>
            <a:r>
              <a:rPr lang="en-IN" sz="2400" b="1">
                <a:solidFill>
                  <a:srgbClr val="FF0000"/>
                </a:solidFill>
                <a:latin typeface="Calibri" panose="020F0502020204030204"/>
                <a:ea typeface="Calibri" panose="020F0502020204030204"/>
                <a:cs typeface="Calibri" panose="020F0502020204030204"/>
                <a:sym typeface="Calibri" panose="020F0502020204030204"/>
              </a:rPr>
              <a:t>Any work experience :</a:t>
            </a:r>
            <a:endParaRPr lang="en-IN" sz="2400" b="1">
              <a:solidFill>
                <a:srgbClr val="FF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r>
              <a:rPr lang="en-IN" sz="2400" b="1">
                <a:solidFill>
                  <a:schemeClr val="tx1"/>
                </a:solidFill>
                <a:latin typeface="Calibri" panose="020F0502020204030204"/>
                <a:ea typeface="Calibri" panose="020F0502020204030204"/>
                <a:cs typeface="Calibri" panose="020F0502020204030204"/>
                <a:sym typeface="Calibri" panose="020F0502020204030204"/>
              </a:rPr>
              <a:t>     Fresher</a:t>
            </a:r>
            <a:endParaRPr lang="en-IN" sz="2400" b="1">
              <a:solidFill>
                <a:schemeClr val="tx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1" i="0" u="none" strike="noStrike" cap="none">
              <a:solidFill>
                <a:schemeClr val="tx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Calibri" panose="020F0502020204030204"/>
              <a:buChar char="•"/>
            </a:pPr>
            <a:r>
              <a:rPr lang="en-IN" sz="2400" b="1">
                <a:solidFill>
                  <a:srgbClr val="FF0000"/>
                </a:solidFill>
                <a:latin typeface="Calibri" panose="020F0502020204030204"/>
                <a:ea typeface="Calibri" panose="020F0502020204030204"/>
                <a:cs typeface="Calibri" panose="020F0502020204030204"/>
                <a:sym typeface="Calibri" panose="020F0502020204030204"/>
              </a:rPr>
              <a:t>Share your LinkedIn and GitHub profile URLs :</a:t>
            </a:r>
            <a:endParaRPr lang="en-IN" sz="2400" b="1">
              <a:solidFill>
                <a:srgbClr val="FF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r>
              <a:rPr lang="en-IN" sz="2000" b="1">
                <a:solidFill>
                  <a:srgbClr val="92D050"/>
                </a:solidFill>
                <a:latin typeface="Calibri" panose="020F0502020204030204"/>
                <a:ea typeface="Calibri" panose="020F0502020204030204"/>
                <a:cs typeface="Calibri" panose="020F0502020204030204"/>
                <a:sym typeface="Calibri" panose="020F0502020204030204"/>
              </a:rPr>
              <a:t>     LinkdIn : </a:t>
            </a:r>
            <a:r>
              <a:rPr lang="en-US" altLang="en-US" sz="2000" b="1">
                <a:solidFill>
                  <a:schemeClr val="tx1"/>
                </a:solidFill>
                <a:latin typeface="Calibri" panose="020F0502020204030204"/>
                <a:ea typeface="Calibri" panose="020F0502020204030204"/>
                <a:cs typeface="Calibri" panose="020F0502020204030204"/>
                <a:sym typeface="Calibri" panose="020F0502020204030204"/>
              </a:rPr>
              <a:t>https://www.linkedin.com/in/anneboina-hashritha-71295723b</a:t>
            </a:r>
            <a:endParaRPr lang="en-US" altLang="en-US" sz="2000" b="1">
              <a:solidFill>
                <a:schemeClr val="tx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r>
              <a:rPr lang="en-IN" altLang="en-US" sz="2000" b="1">
                <a:solidFill>
                  <a:srgbClr val="92D050"/>
                </a:solidFill>
                <a:latin typeface="Calibri" panose="020F0502020204030204"/>
                <a:ea typeface="Calibri" panose="020F0502020204030204"/>
                <a:cs typeface="Calibri" panose="020F0502020204030204"/>
                <a:sym typeface="Calibri" panose="020F0502020204030204"/>
              </a:rPr>
              <a:t>     GitHub : </a:t>
            </a:r>
            <a:r>
              <a:rPr lang="en-US" altLang="en-US" sz="2000" b="1">
                <a:solidFill>
                  <a:schemeClr val="tx1"/>
                </a:solidFill>
                <a:latin typeface="Calibri" panose="020F0502020204030204"/>
                <a:ea typeface="Calibri" panose="020F0502020204030204"/>
                <a:cs typeface="Calibri" panose="020F0502020204030204"/>
                <a:sym typeface="Calibri" panose="020F0502020204030204"/>
              </a:rPr>
              <a:t>https://github.com/Hashritha3119</a:t>
            </a:r>
            <a:endParaRPr lang="en-US" altLang="en-US" sz="2000" b="1">
              <a:solidFill>
                <a:schemeClr val="tx1"/>
              </a:solidFill>
              <a:latin typeface="Calibri" panose="020F0502020204030204"/>
              <a:ea typeface="Calibri" panose="020F0502020204030204"/>
              <a:cs typeface="Calibri" panose="020F0502020204030204"/>
              <a:sym typeface="Calibri" panose="020F0502020204030204"/>
            </a:endParaRPr>
          </a:p>
        </p:txBody>
      </p:sp>
      <p:sp>
        <p:nvSpPr>
          <p:cNvPr id="7" name="Text Box 6"/>
          <p:cNvSpPr txBox="1"/>
          <p:nvPr/>
        </p:nvSpPr>
        <p:spPr>
          <a:xfrm>
            <a:off x="3771265" y="1119505"/>
            <a:ext cx="4064000" cy="306705"/>
          </a:xfrm>
          <a:prstGeom prst="rect">
            <a:avLst/>
          </a:prstGeom>
          <a:noFill/>
        </p:spPr>
        <p:txBody>
          <a:bodyPr wrap="square" rtlCol="0">
            <a:sp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9" name="Shape 109"/>
        <p:cNvGrpSpPr/>
        <p:nvPr/>
      </p:nvGrpSpPr>
      <p:grpSpPr>
        <a:xfrm>
          <a:off x="0" y="0"/>
          <a:ext cx="0" cy="0"/>
          <a:chOff x="0" y="0"/>
          <a:chExt cx="0" cy="0"/>
        </a:xfrm>
      </p:grpSpPr>
      <p:sp>
        <p:nvSpPr>
          <p:cNvPr id="110" name="Google Shape;110;p4"/>
          <p:cNvSpPr txBox="1"/>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a:solidFill>
                  <a:srgbClr val="FF0000"/>
                </a:solidFill>
                <a:latin typeface="Times New Roman" panose="02020603050405020304" charset="0"/>
                <a:cs typeface="Times New Roman" panose="02020603050405020304" charset="0"/>
              </a:rPr>
              <a:t>Contents :</a:t>
            </a:r>
            <a:r>
              <a:rPr lang="en-IN" b="1">
                <a:solidFill>
                  <a:srgbClr val="FF0000"/>
                </a:solidFill>
                <a:latin typeface="Times New Roman" panose="02020603050405020304" charset="0"/>
                <a:cs typeface="Times New Roman" panose="02020603050405020304" charset="0"/>
              </a:rPr>
              <a:t> </a:t>
            </a:r>
            <a:endParaRPr lang="en-IN" b="1">
              <a:solidFill>
                <a:srgbClr val="FF0000"/>
              </a:solidFill>
              <a:latin typeface="Times New Roman" panose="02020603050405020304" charset="0"/>
              <a:cs typeface="Times New Roman" panose="02020603050405020304" charset="0"/>
            </a:endParaRPr>
          </a:p>
        </p:txBody>
      </p:sp>
      <p:sp>
        <p:nvSpPr>
          <p:cNvPr id="111" name="Google Shape;111;p4"/>
          <p:cNvSpPr txBox="1"/>
          <p:nvPr>
            <p:ph type="body" idx="1"/>
          </p:nvPr>
        </p:nvSpPr>
        <p:spPr>
          <a:xfrm>
            <a:off x="824230" y="1202690"/>
            <a:ext cx="10376535" cy="5045710"/>
          </a:xfrm>
          <a:prstGeom prst="rect">
            <a:avLst/>
          </a:prstGeom>
          <a:noFill/>
          <a:ln>
            <a:noFill/>
          </a:ln>
        </p:spPr>
        <p:txBody>
          <a:bodyPr spcFirstLastPara="1" wrap="square" lIns="91425" tIns="45700" rIns="91425" bIns="45700" anchor="t" anchorCtr="0">
            <a:normAutofit lnSpcReduction="20000"/>
          </a:bodyPr>
          <a:lstStyle/>
          <a:p>
            <a:pPr marL="368300" lvl="0" algn="l" rtl="0">
              <a:lnSpc>
                <a:spcPct val="90000"/>
              </a:lnSpc>
              <a:spcBef>
                <a:spcPts val="1000"/>
              </a:spcBef>
              <a:spcAft>
                <a:spcPts val="0"/>
              </a:spcAft>
              <a:buSzPts val="2400"/>
            </a:pPr>
            <a:r>
              <a:rPr lang="en-IN" altLang="en-US" sz="3200">
                <a:latin typeface="Times New Roman" panose="02020603050405020304" charset="0"/>
                <a:cs typeface="Times New Roman" panose="02020603050405020304" charset="0"/>
                <a:sym typeface="+mn-ea"/>
              </a:rPr>
              <a:t>Business Problem</a:t>
            </a:r>
            <a:endParaRPr lang="en-IN" altLang="en-US" sz="3200">
              <a:latin typeface="Times New Roman" panose="02020603050405020304" charset="0"/>
              <a:cs typeface="Times New Roman" panose="02020603050405020304" charset="0"/>
              <a:sym typeface="+mn-ea"/>
            </a:endParaRPr>
          </a:p>
          <a:p>
            <a:pPr marL="368300" lvl="0" algn="l" rtl="0">
              <a:lnSpc>
                <a:spcPct val="90000"/>
              </a:lnSpc>
              <a:spcBef>
                <a:spcPts val="1000"/>
              </a:spcBef>
              <a:spcAft>
                <a:spcPts val="0"/>
              </a:spcAft>
              <a:buSzPts val="2400"/>
            </a:pPr>
            <a:r>
              <a:rPr lang="en-US" altLang="en-GB" sz="3200">
                <a:latin typeface="Times New Roman" panose="02020603050405020304" charset="0"/>
                <a:cs typeface="Times New Roman" panose="02020603050405020304" charset="0"/>
                <a:sym typeface="+mn-ea"/>
              </a:rPr>
              <a:t>Project Overview</a:t>
            </a:r>
            <a:endParaRPr lang="en-US" altLang="en-GB" sz="3200">
              <a:latin typeface="Times New Roman" panose="02020603050405020304" charset="0"/>
              <a:cs typeface="Times New Roman" panose="02020603050405020304" charset="0"/>
            </a:endParaRPr>
          </a:p>
          <a:p>
            <a:pPr marL="368300" lvl="0" algn="l" rtl="0">
              <a:lnSpc>
                <a:spcPct val="90000"/>
              </a:lnSpc>
              <a:spcBef>
                <a:spcPts val="1000"/>
              </a:spcBef>
              <a:spcAft>
                <a:spcPts val="0"/>
              </a:spcAft>
              <a:buSzPts val="2400"/>
            </a:pPr>
            <a:r>
              <a:rPr lang="en-US" altLang="en-GB" sz="3200">
                <a:latin typeface="Times New Roman" panose="02020603050405020304" charset="0"/>
                <a:cs typeface="Times New Roman" panose="02020603050405020304" charset="0"/>
                <a:sym typeface="+mn-ea"/>
              </a:rPr>
              <a:t>Dataset Overview</a:t>
            </a:r>
            <a:endParaRPr lang="en-US" altLang="en-GB" sz="3200">
              <a:latin typeface="Times New Roman" panose="02020603050405020304" charset="0"/>
              <a:cs typeface="Times New Roman" panose="02020603050405020304" charset="0"/>
            </a:endParaRPr>
          </a:p>
          <a:p>
            <a:pPr marL="368300" lvl="0" algn="l" rtl="0">
              <a:lnSpc>
                <a:spcPct val="90000"/>
              </a:lnSpc>
              <a:spcBef>
                <a:spcPts val="1000"/>
              </a:spcBef>
              <a:spcAft>
                <a:spcPts val="0"/>
              </a:spcAft>
              <a:buSzPts val="2400"/>
            </a:pPr>
            <a:r>
              <a:rPr lang="en-US" altLang="en-GB" sz="3200">
                <a:latin typeface="Times New Roman" panose="02020603050405020304" charset="0"/>
                <a:cs typeface="Times New Roman" panose="02020603050405020304" charset="0"/>
                <a:sym typeface="+mn-ea"/>
              </a:rPr>
              <a:t>Data Cleaning &amp; Preparation</a:t>
            </a:r>
            <a:endParaRPr lang="en-US" altLang="en-GB" sz="3200">
              <a:latin typeface="Times New Roman" panose="02020603050405020304" charset="0"/>
              <a:cs typeface="Times New Roman" panose="02020603050405020304" charset="0"/>
            </a:endParaRPr>
          </a:p>
          <a:p>
            <a:pPr marL="368300" lvl="0" algn="l" rtl="0">
              <a:lnSpc>
                <a:spcPct val="90000"/>
              </a:lnSpc>
              <a:spcBef>
                <a:spcPts val="1000"/>
              </a:spcBef>
              <a:spcAft>
                <a:spcPts val="0"/>
              </a:spcAft>
              <a:buSzPts val="2400"/>
            </a:pPr>
            <a:r>
              <a:rPr lang="en-US" altLang="en-GB" sz="3200">
                <a:latin typeface="Times New Roman" panose="02020603050405020304" charset="0"/>
                <a:cs typeface="Times New Roman" panose="02020603050405020304" charset="0"/>
                <a:sym typeface="+mn-ea"/>
              </a:rPr>
              <a:t>DAX Me</a:t>
            </a:r>
            <a:r>
              <a:rPr lang="en-IN" altLang="en-US" sz="3200">
                <a:latin typeface="Times New Roman" panose="02020603050405020304" charset="0"/>
                <a:cs typeface="Times New Roman" panose="02020603050405020304" charset="0"/>
                <a:sym typeface="+mn-ea"/>
              </a:rPr>
              <a:t>a</a:t>
            </a:r>
            <a:r>
              <a:rPr lang="en-US" altLang="en-GB" sz="3200">
                <a:latin typeface="Times New Roman" panose="02020603050405020304" charset="0"/>
                <a:cs typeface="Times New Roman" panose="02020603050405020304" charset="0"/>
                <a:sym typeface="+mn-ea"/>
              </a:rPr>
              <a:t>sures</a:t>
            </a:r>
            <a:endParaRPr lang="en-US" altLang="en-GB" sz="3200">
              <a:latin typeface="Times New Roman" panose="02020603050405020304" charset="0"/>
              <a:cs typeface="Times New Roman" panose="02020603050405020304" charset="0"/>
            </a:endParaRPr>
          </a:p>
          <a:p>
            <a:pPr marL="368300" lvl="0" algn="l" rtl="0">
              <a:lnSpc>
                <a:spcPct val="90000"/>
              </a:lnSpc>
              <a:spcBef>
                <a:spcPts val="1000"/>
              </a:spcBef>
              <a:spcAft>
                <a:spcPts val="0"/>
              </a:spcAft>
              <a:buSzPts val="2400"/>
            </a:pPr>
            <a:r>
              <a:rPr lang="en-US" altLang="en-GB" sz="3200">
                <a:latin typeface="Times New Roman" panose="02020603050405020304" charset="0"/>
                <a:cs typeface="Times New Roman" panose="02020603050405020304" charset="0"/>
                <a:sym typeface="+mn-ea"/>
              </a:rPr>
              <a:t>Dashboards</a:t>
            </a:r>
            <a:endParaRPr lang="en-US" altLang="en-GB" sz="3200">
              <a:latin typeface="Times New Roman" panose="02020603050405020304" charset="0"/>
              <a:cs typeface="Times New Roman" panose="02020603050405020304" charset="0"/>
              <a:sym typeface="+mn-ea"/>
            </a:endParaRPr>
          </a:p>
          <a:p>
            <a:pPr marL="368300" lvl="0" algn="l" rtl="0">
              <a:lnSpc>
                <a:spcPct val="90000"/>
              </a:lnSpc>
              <a:spcBef>
                <a:spcPts val="1000"/>
              </a:spcBef>
              <a:spcAft>
                <a:spcPts val="0"/>
              </a:spcAft>
              <a:buSzPts val="2400"/>
            </a:pPr>
            <a:r>
              <a:rPr lang="en-IN" altLang="en-US" sz="3200">
                <a:latin typeface="Times New Roman" panose="02020603050405020304" charset="0"/>
                <a:cs typeface="Times New Roman" panose="02020603050405020304" charset="0"/>
                <a:sym typeface="+mn-ea"/>
              </a:rPr>
              <a:t>Key Insights</a:t>
            </a:r>
            <a:endParaRPr lang="en-IN" altLang="en-US" sz="3200">
              <a:latin typeface="Times New Roman" panose="02020603050405020304" charset="0"/>
              <a:cs typeface="Times New Roman" panose="02020603050405020304" charset="0"/>
              <a:sym typeface="+mn-ea"/>
            </a:endParaRPr>
          </a:p>
          <a:p>
            <a:pPr marL="368300" lvl="0" algn="l" rtl="0">
              <a:lnSpc>
                <a:spcPct val="90000"/>
              </a:lnSpc>
              <a:spcBef>
                <a:spcPts val="1000"/>
              </a:spcBef>
              <a:spcAft>
                <a:spcPts val="0"/>
              </a:spcAft>
              <a:buSzPts val="2400"/>
            </a:pPr>
            <a:r>
              <a:rPr lang="en-IN" altLang="en-US" sz="3200">
                <a:latin typeface="Times New Roman" panose="02020603050405020304" charset="0"/>
                <a:cs typeface="Times New Roman" panose="02020603050405020304" charset="0"/>
                <a:sym typeface="+mn-ea"/>
              </a:rPr>
              <a:t> </a:t>
            </a:r>
            <a:r>
              <a:rPr lang="en-US" altLang="en-GB" sz="3200">
                <a:latin typeface="Times New Roman" panose="02020603050405020304" charset="0"/>
                <a:cs typeface="Times New Roman" panose="02020603050405020304" charset="0"/>
                <a:sym typeface="+mn-ea"/>
              </a:rPr>
              <a:t>Conclusion</a:t>
            </a:r>
            <a:endParaRPr lang="en-US" altLang="en-GB" sz="3200">
              <a:latin typeface="Times New Roman" panose="02020603050405020304" charset="0"/>
              <a:cs typeface="Times New Roman" panose="02020603050405020304" charset="0"/>
              <a:sym typeface="+mn-ea"/>
            </a:endParaRPr>
          </a:p>
          <a:p>
            <a:pPr marL="482600" lvl="0" indent="-457200" algn="l" rtl="0">
              <a:lnSpc>
                <a:spcPct val="90000"/>
              </a:lnSpc>
              <a:spcBef>
                <a:spcPts val="1000"/>
              </a:spcBef>
              <a:spcAft>
                <a:spcPts val="0"/>
              </a:spcAft>
              <a:buSzPts val="2400"/>
            </a:pPr>
            <a:r>
              <a:rPr lang="en-IN" altLang="en-US" sz="3200">
                <a:latin typeface="Times New Roman" panose="02020603050405020304" charset="0"/>
                <a:cs typeface="Times New Roman" panose="02020603050405020304" charset="0"/>
                <a:sym typeface="+mn-ea"/>
              </a:rPr>
              <a:t>Business Recommendations</a:t>
            </a:r>
            <a:endParaRPr lang="en-US" altLang="en-GB" sz="3200">
              <a:latin typeface="Times New Roman" panose="02020603050405020304" charset="0"/>
              <a:cs typeface="Times New Roman" panose="02020603050405020304" charset="0"/>
            </a:endParaRPr>
          </a:p>
          <a:p>
            <a:pPr marL="25400" lvl="0" indent="0" algn="l" rtl="0">
              <a:lnSpc>
                <a:spcPct val="90000"/>
              </a:lnSpc>
              <a:spcBef>
                <a:spcPts val="1000"/>
              </a:spcBef>
              <a:spcAft>
                <a:spcPts val="0"/>
              </a:spcAft>
              <a:buSzPts val="2400"/>
              <a:buNone/>
            </a:pPr>
            <a:endParaRPr lang="en-IN" sz="32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 Business Problem :</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a:xfrm>
            <a:off x="838200" y="1535430"/>
            <a:ext cx="10515600" cy="4641850"/>
          </a:xfrm>
        </p:spPr>
        <p:txBody>
          <a:bodyPr>
            <a:normAutofit lnSpcReduction="10000"/>
          </a:bodyPr>
          <a:p>
            <a:r>
              <a:rPr lang="en-US" altLang="en-US"/>
              <a:t>The company is experiencing a high rate of customer churn, leading to revenue loss and reduced customer lifetime value. However, it lacks clear insights into the factors driving churn and is unable to effectively identify and retain at-risk customers.</a:t>
            </a:r>
            <a:endParaRPr lang="en-US" altLang="en-US"/>
          </a:p>
          <a:p>
            <a:pPr marL="114300" indent="0">
              <a:buNone/>
            </a:pP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Project Overview : </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a:xfrm>
            <a:off x="1306195" y="1825625"/>
            <a:ext cx="10047605" cy="4351655"/>
          </a:xfrm>
        </p:spPr>
        <p:txBody>
          <a:bodyPr/>
          <a:p>
            <a:r>
              <a:rPr lang="en-US" altLang="en-US"/>
              <a:t>Customer churn refers to customers leaving a service</a:t>
            </a:r>
            <a:endParaRPr lang="en-US" altLang="en-US"/>
          </a:p>
          <a:p>
            <a:r>
              <a:rPr lang="en-US" altLang="en-US"/>
              <a:t>This project analyzes customer data to identify churn patterns</a:t>
            </a:r>
            <a:endParaRPr lang="en-US" altLang="en-US"/>
          </a:p>
          <a:p>
            <a:r>
              <a:rPr lang="en-IN" altLang="en-US"/>
              <a:t>Re</a:t>
            </a:r>
            <a:r>
              <a:rPr lang="en-US" altLang="en-US"/>
              <a:t>duce churn and improve customer retention</a:t>
            </a:r>
            <a:endParaRPr lang="en-US" altLang="en-US"/>
          </a:p>
          <a:p>
            <a:r>
              <a:rPr lang="en-US" altLang="en-US"/>
              <a:t>Built using Power BI for visualization and insights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a:bodyPr>
          <a:p>
            <a:r>
              <a:rPr lang="en-IN" altLang="en-US">
                <a:solidFill>
                  <a:srgbClr val="FF0000"/>
                </a:solidFill>
                <a:latin typeface="Times New Roman" panose="02020603050405020304" charset="0"/>
                <a:cs typeface="Times New Roman" panose="02020603050405020304" charset="0"/>
              </a:rPr>
              <a:t>Data Overview :</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pPr marL="114300" indent="0">
              <a:buNone/>
            </a:pPr>
            <a:r>
              <a:rPr lang="en-US" altLang="en-GB">
                <a:latin typeface="Times New Roman" panose="02020603050405020304" charset="0"/>
                <a:cs typeface="Times New Roman" panose="02020603050405020304" charset="0"/>
                <a:sym typeface="+mn-ea"/>
              </a:rPr>
              <a:t>The dataset contains customer information from a telecom company.</a:t>
            </a:r>
            <a:endParaRPr lang="en-US" altLang="en-GB">
              <a:latin typeface="Times New Roman" panose="02020603050405020304" charset="0"/>
              <a:cs typeface="Times New Roman" panose="02020603050405020304" charset="0"/>
            </a:endParaRPr>
          </a:p>
          <a:p>
            <a:pPr marL="114300" indent="0">
              <a:buNone/>
            </a:pPr>
            <a:r>
              <a:rPr lang="en-US" altLang="en-GB">
                <a:latin typeface="Times New Roman" panose="02020603050405020304" charset="0"/>
                <a:cs typeface="Times New Roman" panose="02020603050405020304" charset="0"/>
                <a:sym typeface="+mn-ea"/>
              </a:rPr>
              <a:t>  It includes:</a:t>
            </a:r>
            <a:endParaRPr lang="en-US" altLang="en-GB">
              <a:latin typeface="Times New Roman" panose="02020603050405020304" charset="0"/>
              <a:cs typeface="Times New Roman" panose="02020603050405020304" charset="0"/>
            </a:endParaRPr>
          </a:p>
          <a:p>
            <a:r>
              <a:rPr>
                <a:sym typeface="+mn-ea"/>
              </a:rPr>
              <a:t>Includes customer demographics</a:t>
            </a:r>
            <a:endParaRPr>
              <a:sym typeface="+mn-ea"/>
            </a:endParaRPr>
          </a:p>
          <a:p>
            <a:r>
              <a:rPr lang="en-IN">
                <a:sym typeface="+mn-ea"/>
              </a:rPr>
              <a:t>T</a:t>
            </a:r>
            <a:r>
              <a:rPr>
                <a:sym typeface="+mn-ea"/>
              </a:rPr>
              <a:t>enure</a:t>
            </a:r>
            <a:endParaRPr>
              <a:sym typeface="+mn-ea"/>
            </a:endParaRPr>
          </a:p>
          <a:p>
            <a:r>
              <a:rPr lang="en-IN">
                <a:sym typeface="+mn-ea"/>
              </a:rPr>
              <a:t>Monthly and Total</a:t>
            </a:r>
            <a:r>
              <a:rPr>
                <a:sym typeface="+mn-ea"/>
              </a:rPr>
              <a:t> charges</a:t>
            </a:r>
            <a:endParaRPr>
              <a:sym typeface="+mn-ea"/>
            </a:endParaRPr>
          </a:p>
          <a:p>
            <a:r>
              <a:rPr lang="en-IN">
                <a:sym typeface="+mn-ea"/>
              </a:rPr>
              <a:t>C</a:t>
            </a:r>
            <a:r>
              <a:rPr>
                <a:sym typeface="+mn-ea"/>
              </a:rPr>
              <a:t>hurn status</a:t>
            </a:r>
            <a:endParaRPr>
              <a:sym typeface="+mn-ea"/>
            </a:endParaRPr>
          </a:p>
          <a:p>
            <a:r>
              <a:rPr lang="en-IN">
                <a:sym typeface="+mn-ea"/>
              </a:rPr>
              <a:t>Contract and Billing</a:t>
            </a:r>
            <a:endParaRPr>
              <a:sym typeface="+mn-ea"/>
            </a:endParaRPr>
          </a:p>
          <a:p>
            <a:endParaRPr>
              <a:sym typeface="+mn-ea"/>
            </a:endParaRPr>
          </a:p>
          <a:p>
            <a:endParaRPr>
              <a:sym typeface="+mn-ea"/>
            </a:endParaRPr>
          </a:p>
          <a:p>
            <a:endParaRPr>
              <a:sym typeface="+mn-ea"/>
            </a:endParaRPr>
          </a:p>
          <a:p>
            <a:endParaRPr>
              <a:sym typeface="+mn-ea"/>
            </a:endParaRP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ltLang="en-GB" b="1">
                <a:solidFill>
                  <a:srgbClr val="FF0000"/>
                </a:solidFill>
                <a:latin typeface="Times New Roman" panose="02020603050405020304" charset="0"/>
                <a:cs typeface="Times New Roman" panose="02020603050405020304" charset="0"/>
                <a:sym typeface="+mn-ea"/>
              </a:rPr>
              <a:t>Data Cleaning &amp; </a:t>
            </a:r>
            <a:r>
              <a:rPr lang="en-IN" altLang="en-US" b="1">
                <a:solidFill>
                  <a:srgbClr val="FF0000"/>
                </a:solidFill>
                <a:latin typeface="Times New Roman" panose="02020603050405020304" charset="0"/>
                <a:cs typeface="Times New Roman" panose="02020603050405020304" charset="0"/>
                <a:sym typeface="+mn-ea"/>
              </a:rPr>
              <a:t>Transformation</a:t>
            </a:r>
            <a:r>
              <a:rPr lang="en-US" altLang="en-GB" b="1">
                <a:solidFill>
                  <a:srgbClr val="FF0000"/>
                </a:solidFill>
                <a:latin typeface="Times New Roman" panose="02020603050405020304" charset="0"/>
                <a:cs typeface="Times New Roman" panose="02020603050405020304" charset="0"/>
                <a:sym typeface="+mn-ea"/>
              </a:rPr>
              <a:t> :</a:t>
            </a:r>
            <a:endParaRPr lang="en-US">
              <a:latin typeface="Times New Roman" panose="02020603050405020304" charset="0"/>
              <a:cs typeface="Times New Roman" panose="02020603050405020304" charset="0"/>
            </a:endParaRPr>
          </a:p>
        </p:txBody>
      </p:sp>
      <p:sp>
        <p:nvSpPr>
          <p:cNvPr id="3" name="Text Placeholder 2"/>
          <p:cNvSpPr/>
          <p:nvPr>
            <p:ph type="body" idx="1"/>
          </p:nvPr>
        </p:nvSpPr>
        <p:spPr/>
        <p:txBody>
          <a:bodyPr>
            <a:normAutofit fontScale="80000"/>
          </a:bodyPr>
          <a:p>
            <a:pPr marL="114300" indent="0">
              <a:buNone/>
            </a:pPr>
            <a:r>
              <a:rPr lang="en-IN" altLang="en-US" sz="3600">
                <a:latin typeface="Times New Roman" panose="02020603050405020304" charset="0"/>
                <a:cs typeface="Times New Roman" panose="02020603050405020304" charset="0"/>
              </a:rPr>
              <a:t>Steps :</a:t>
            </a:r>
            <a:endParaRPr lang="en-IN" altLang="en-US" sz="3430">
              <a:latin typeface="Times New Roman" panose="02020603050405020304" charset="0"/>
              <a:cs typeface="Times New Roman" panose="02020603050405020304" charset="0"/>
            </a:endParaRPr>
          </a:p>
          <a:p>
            <a:r>
              <a:rPr lang="en-IN" altLang="en-US" sz="3430">
                <a:sym typeface="+mn-ea"/>
              </a:rPr>
              <a:t>C</a:t>
            </a:r>
            <a:r>
              <a:rPr lang="en-US" altLang="en-US" sz="3430">
                <a:sym typeface="+mn-ea"/>
              </a:rPr>
              <a:t>hecked and </a:t>
            </a:r>
            <a:r>
              <a:rPr lang="en-IN" altLang="en-US" sz="3430">
                <a:sym typeface="+mn-ea"/>
              </a:rPr>
              <a:t> corrected Data types</a:t>
            </a:r>
            <a:endParaRPr lang="en-IN" altLang="en-US" sz="3430"/>
          </a:p>
          <a:p>
            <a:pPr>
              <a:buFont typeface="Arial" panose="020B0604020202020204" pitchFamily="34" charset="0"/>
              <a:buChar char="•"/>
            </a:pPr>
            <a:r>
              <a:rPr lang="en-IN" altLang="en-US" sz="3430">
                <a:sym typeface="+mn-ea"/>
              </a:rPr>
              <a:t>H</a:t>
            </a:r>
            <a:r>
              <a:rPr lang="en-US" altLang="en-US" sz="3430">
                <a:sym typeface="+mn-ea"/>
              </a:rPr>
              <a:t>andled</a:t>
            </a:r>
            <a:r>
              <a:rPr lang="en-IN" altLang="en-US" sz="3430">
                <a:sym typeface="+mn-ea"/>
              </a:rPr>
              <a:t> missing </a:t>
            </a:r>
            <a:r>
              <a:rPr lang="en-US" altLang="en-US" sz="3430">
                <a:sym typeface="+mn-ea"/>
              </a:rPr>
              <a:t>values i</a:t>
            </a:r>
            <a:r>
              <a:rPr lang="en-IN" altLang="en-US" sz="3430">
                <a:sym typeface="+mn-ea"/>
              </a:rPr>
              <a:t>n Total Charges</a:t>
            </a:r>
            <a:endParaRPr lang="en-IN" altLang="en-US" sz="3430"/>
          </a:p>
          <a:p>
            <a:pPr>
              <a:buFont typeface="Arial" panose="020B0604020202020204" pitchFamily="34" charset="0"/>
              <a:buChar char="•"/>
            </a:pPr>
            <a:r>
              <a:rPr lang="en-IN" altLang="en-US" sz="3430">
                <a:sym typeface="+mn-ea"/>
              </a:rPr>
              <a:t>Created New categorical Colunms and Measure</a:t>
            </a:r>
            <a:endParaRPr lang="en-IN" altLang="en-US" sz="3430"/>
          </a:p>
          <a:p>
            <a:pPr>
              <a:buFont typeface="Arial" panose="020B0604020202020204" pitchFamily="34" charset="0"/>
              <a:buChar char="•"/>
            </a:pPr>
            <a:r>
              <a:rPr lang="en-US" altLang="en-US" sz="3430">
                <a:sym typeface="+mn-ea"/>
              </a:rPr>
              <a:t>Created clean structure for Power BI visual</a:t>
            </a:r>
            <a:endParaRPr lang="en-US" altLang="en-US" sz="3430"/>
          </a:p>
          <a:p>
            <a:pPr>
              <a:buFont typeface="Arial" panose="020B0604020202020204" pitchFamily="34" charset="0"/>
              <a:buChar char="•"/>
            </a:pPr>
            <a:r>
              <a:rPr lang="en-IN" altLang="en-US" sz="3500">
                <a:latin typeface="Calibri" panose="020F0502020204030204" charset="0"/>
                <a:cs typeface="Calibri" panose="020F0502020204030204" charset="0"/>
                <a:sym typeface="+mn-ea"/>
              </a:rPr>
              <a:t>C</a:t>
            </a:r>
            <a:r>
              <a:rPr lang="en-US" altLang="en-US" sz="3500">
                <a:latin typeface="Calibri" panose="020F0502020204030204" charset="0"/>
                <a:cs typeface="Calibri" panose="020F0502020204030204" charset="0"/>
                <a:sym typeface="+mn-ea"/>
              </a:rPr>
              <a:t>reated new columns such as:</a:t>
            </a:r>
            <a:endParaRPr lang="en-US" altLang="en-US" sz="3500">
              <a:latin typeface="Calibri" panose="020F0502020204030204" charset="0"/>
              <a:cs typeface="Calibri" panose="020F0502020204030204" charset="0"/>
              <a:sym typeface="+mn-ea"/>
            </a:endParaRPr>
          </a:p>
          <a:p>
            <a:pPr>
              <a:buFont typeface="Arial" panose="020B0604020202020204" pitchFamily="34" charset="0"/>
              <a:buChar char="•"/>
            </a:pPr>
            <a:r>
              <a:rPr lang="en-US" altLang="en-US" sz="3500">
                <a:latin typeface="Calibri" panose="020F0502020204030204" charset="0"/>
                <a:cs typeface="Calibri" panose="020F0502020204030204" charset="0"/>
                <a:sym typeface="+mn-ea"/>
              </a:rPr>
              <a:t>Churn Status </a:t>
            </a:r>
            <a:endParaRPr lang="en-US" altLang="en-US" sz="3500">
              <a:latin typeface="Calibri" panose="020F0502020204030204" charset="0"/>
              <a:cs typeface="Calibri" panose="020F0502020204030204" charset="0"/>
              <a:sym typeface="+mn-ea"/>
            </a:endParaRPr>
          </a:p>
          <a:p>
            <a:pPr>
              <a:buFont typeface="Arial" panose="020B0604020202020204" pitchFamily="34" charset="0"/>
              <a:buChar char="•"/>
            </a:pPr>
            <a:r>
              <a:rPr lang="en-US" altLang="en-US" sz="3500">
                <a:latin typeface="Calibri" panose="020F0502020204030204" charset="0"/>
                <a:cs typeface="Calibri" panose="020F0502020204030204" charset="0"/>
                <a:sym typeface="+mn-ea"/>
              </a:rPr>
              <a:t>Customer Segments</a:t>
            </a:r>
            <a:endParaRPr lang="en-US" altLang="en-US" sz="3500"/>
          </a:p>
          <a:p>
            <a:endParaRPr lang="en-US" altLang="en-GB" sz="10000">
              <a:latin typeface="Times New Roman" panose="02020603050405020304" charset="0"/>
              <a:cs typeface="Times New Roman" panose="02020603050405020304" charset="0"/>
              <a:sym typeface="+mn-ea"/>
            </a:endParaRPr>
          </a:p>
          <a:p>
            <a:endParaRPr lang="en-US" altLang="en-GB" sz="10000">
              <a:latin typeface="Times New Roman" panose="02020603050405020304" charset="0"/>
              <a:cs typeface="Times New Roman" panose="02020603050405020304" charset="0"/>
              <a:sym typeface="+mn-ea"/>
            </a:endParaRPr>
          </a:p>
          <a:p>
            <a:endParaRPr lang="en-IN" altLang="en-US" sz="10000">
              <a:latin typeface="Times New Roman" panose="02020603050405020304" charset="0"/>
              <a:cs typeface="Times New Roman" panose="02020603050405020304" charset="0"/>
            </a:endParaRPr>
          </a:p>
          <a:p>
            <a:pPr marL="114300" indent="0">
              <a:buNone/>
            </a:pPr>
            <a:endParaRPr lang="en-IN" altLang="en-US"/>
          </a:p>
          <a:p>
            <a:pPr marL="114300" indent="0" algn="l">
              <a:buNone/>
            </a:pPr>
            <a:endParaRPr lang="en-US" altLang="en-GB">
              <a:latin typeface="Times New Roman" panose="02020603050405020304" charset="0"/>
              <a:cs typeface="Times New Roman" panose="02020603050405020304" charset="0"/>
            </a:endParaRPr>
          </a:p>
          <a:p>
            <a:endParaRPr lang="en-US" altLang="en-US"/>
          </a:p>
          <a:p>
            <a:endParaRPr lang="en-US" altLang="en-US"/>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DAX Measures:</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pPr marL="114300" indent="0">
              <a:buNone/>
            </a:pPr>
            <a:r>
              <a:rPr lang="en-US" altLang="en-GB">
                <a:latin typeface="Times New Roman" panose="02020603050405020304" charset="0"/>
                <a:cs typeface="Times New Roman" panose="02020603050405020304" charset="0"/>
                <a:sym typeface="+mn-ea"/>
              </a:rPr>
              <a:t> </a:t>
            </a:r>
            <a:r>
              <a:rPr lang="en-IN" altLang="en-US">
                <a:latin typeface="Times New Roman" panose="02020603050405020304" charset="0"/>
                <a:cs typeface="Times New Roman" panose="02020603050405020304" charset="0"/>
                <a:sym typeface="+mn-ea"/>
              </a:rPr>
              <a:t>M</a:t>
            </a:r>
            <a:r>
              <a:rPr lang="en-US" altLang="en-GB">
                <a:latin typeface="Times New Roman" panose="02020603050405020304" charset="0"/>
                <a:cs typeface="Times New Roman" panose="02020603050405020304" charset="0"/>
                <a:sym typeface="+mn-ea"/>
              </a:rPr>
              <a:t>ajor measures include:</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Total Customers</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Churned Customers</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Churn Rate</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Average Monthly Charges </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Average Tenure</a:t>
            </a:r>
            <a:endParaRPr lang="en-US" altLang="en-GB">
              <a:latin typeface="Times New Roman" panose="02020603050405020304" charset="0"/>
              <a:cs typeface="Times New Roman" panose="02020603050405020304" charset="0"/>
            </a:endParaRPr>
          </a:p>
          <a:p>
            <a:r>
              <a:rPr lang="en-US" altLang="en-GB">
                <a:latin typeface="Times New Roman" panose="02020603050405020304" charset="0"/>
                <a:cs typeface="Times New Roman" panose="02020603050405020304" charset="0"/>
                <a:sym typeface="+mn-ea"/>
              </a:rPr>
              <a:t>Revenue Lost Due to Churn</a:t>
            </a:r>
            <a:endParaRPr lang="en-US" altLang="en-GB">
              <a:latin typeface="Times New Roman" panose="02020603050405020304" charset="0"/>
              <a:cs typeface="Times New Roman" panose="02020603050405020304" charset="0"/>
            </a:endParaRP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IN" altLang="en-US">
                <a:solidFill>
                  <a:srgbClr val="FF0000"/>
                </a:solidFill>
                <a:latin typeface="Times New Roman" panose="02020603050405020304" charset="0"/>
                <a:cs typeface="Times New Roman" panose="02020603050405020304" charset="0"/>
              </a:rPr>
              <a:t>DashBoard 1: </a:t>
            </a:r>
            <a:r>
              <a:rPr lang="en-US" altLang="en-US">
                <a:solidFill>
                  <a:srgbClr val="FF0000"/>
                </a:solidFill>
                <a:latin typeface="Times New Roman" panose="02020603050405020304" charset="0"/>
                <a:cs typeface="Times New Roman" panose="02020603050405020304" charset="0"/>
              </a:rPr>
              <a:t>Customer Demographics Analysis</a:t>
            </a:r>
            <a:endParaRPr lang="en-US"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pPr marL="114300" indent="0">
              <a:buNone/>
            </a:pPr>
            <a:endParaRPr lang="en-US"/>
          </a:p>
        </p:txBody>
      </p:sp>
      <p:pic>
        <p:nvPicPr>
          <p:cNvPr id="4" name="Picture 3"/>
          <p:cNvPicPr>
            <a:picLocks noChangeAspect="1"/>
          </p:cNvPicPr>
          <p:nvPr/>
        </p:nvPicPr>
        <p:blipFill>
          <a:blip r:embed="rId1"/>
          <a:stretch>
            <a:fillRect/>
          </a:stretch>
        </p:blipFill>
        <p:spPr>
          <a:xfrm>
            <a:off x="878205" y="1506855"/>
            <a:ext cx="10497185" cy="46393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DashBoard 2: </a:t>
            </a:r>
            <a:r>
              <a:rPr lang="en-US" altLang="en-US">
                <a:solidFill>
                  <a:srgbClr val="FF0000"/>
                </a:solidFill>
                <a:latin typeface="Times New Roman" panose="02020603050405020304" charset="0"/>
                <a:cs typeface="Times New Roman" panose="02020603050405020304" charset="0"/>
              </a:rPr>
              <a:t>Service Subscription Analysis</a:t>
            </a:r>
            <a:endParaRPr lang="en-US"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pPr marL="114300" indent="0">
              <a:buNone/>
            </a:pPr>
            <a:endParaRPr lang="en-US"/>
          </a:p>
        </p:txBody>
      </p:sp>
      <p:pic>
        <p:nvPicPr>
          <p:cNvPr id="4" name="Picture 3"/>
          <p:cNvPicPr>
            <a:picLocks noChangeAspect="1"/>
          </p:cNvPicPr>
          <p:nvPr/>
        </p:nvPicPr>
        <p:blipFill>
          <a:blip r:embed="rId1"/>
          <a:stretch>
            <a:fillRect/>
          </a:stretch>
        </p:blipFill>
        <p:spPr>
          <a:xfrm>
            <a:off x="815340" y="1492885"/>
            <a:ext cx="10612755" cy="47377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DashBoard 3: </a:t>
            </a:r>
            <a:r>
              <a:rPr lang="en-US" altLang="en-US">
                <a:solidFill>
                  <a:srgbClr val="FF0000"/>
                </a:solidFill>
                <a:latin typeface="Times New Roman" panose="02020603050405020304" charset="0"/>
                <a:cs typeface="Times New Roman" panose="02020603050405020304" charset="0"/>
              </a:rPr>
              <a:t>Contract &amp; Billing Insights</a:t>
            </a:r>
            <a:endParaRPr lang="en-US"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pPr marL="114300" indent="0">
              <a:buNone/>
            </a:pPr>
            <a:endParaRPr lang="en-US"/>
          </a:p>
        </p:txBody>
      </p:sp>
      <p:pic>
        <p:nvPicPr>
          <p:cNvPr id="4" name="Picture 3"/>
          <p:cNvPicPr>
            <a:picLocks noChangeAspect="1"/>
          </p:cNvPicPr>
          <p:nvPr/>
        </p:nvPicPr>
        <p:blipFill>
          <a:blip r:embed="rId1"/>
          <a:stretch>
            <a:fillRect/>
          </a:stretch>
        </p:blipFill>
        <p:spPr>
          <a:xfrm>
            <a:off x="837565" y="1383665"/>
            <a:ext cx="10567035" cy="47936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38200" y="365125"/>
            <a:ext cx="10515600" cy="848360"/>
          </a:xfrm>
        </p:spPr>
        <p:txBody>
          <a:bodyPr>
            <a:normAutofit/>
          </a:bodyPr>
          <a:p>
            <a:r>
              <a:rPr lang="en-IN" altLang="en-US">
                <a:solidFill>
                  <a:srgbClr val="FF0000"/>
                </a:solidFill>
                <a:latin typeface="Times New Roman" panose="02020603050405020304" charset="0"/>
                <a:cs typeface="Times New Roman" panose="02020603050405020304" charset="0"/>
              </a:rPr>
              <a:t>DashBoard 4: Churn Prediction &amp; Key Driver</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798830" y="1355090"/>
            <a:ext cx="10643235" cy="4785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Key Insights:</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a:xfrm>
            <a:off x="838200" y="1209040"/>
            <a:ext cx="10515600" cy="5109845"/>
          </a:xfrm>
        </p:spPr>
        <p:txBody>
          <a:bodyPr>
            <a:normAutofit fontScale="90000"/>
          </a:bodyPr>
          <a:p>
            <a:pPr marL="114300" indent="0">
              <a:buNone/>
            </a:pPr>
            <a:endParaRPr lang="en-US" altLang="en-US"/>
          </a:p>
          <a:p>
            <a:r>
              <a:rPr lang="en-US" altLang="en-US"/>
              <a:t> Total Customers Analyzed: 7043</a:t>
            </a:r>
            <a:endParaRPr lang="en-US" altLang="en-US"/>
          </a:p>
          <a:p>
            <a:r>
              <a:rPr lang="en-US" altLang="en-US"/>
              <a:t> Churned Customers: 1869</a:t>
            </a:r>
            <a:endParaRPr lang="en-US" altLang="en-US"/>
          </a:p>
          <a:p>
            <a:r>
              <a:rPr lang="en-US" altLang="en-US"/>
              <a:t> Overall Churn Rate: 26.5%</a:t>
            </a:r>
            <a:endParaRPr lang="en-US" altLang="en-US"/>
          </a:p>
          <a:p>
            <a:r>
              <a:rPr lang="en-US" altLang="en-US"/>
              <a:t> Average Monthly Charges: 64.76</a:t>
            </a:r>
            <a:endParaRPr lang="en-US" altLang="en-US"/>
          </a:p>
          <a:p>
            <a:r>
              <a:rPr lang="en-US" altLang="en-US"/>
              <a:t> 42% churn rate observed among month-to-month contract customers</a:t>
            </a:r>
            <a:endParaRPr lang="en-US" altLang="en-US"/>
          </a:p>
          <a:p>
            <a:r>
              <a:rPr lang="en-US" altLang="en-US"/>
              <a:t>Nearly 70% of churned customers were fiber optic users</a:t>
            </a:r>
            <a:endParaRPr lang="en-US" altLang="en-US"/>
          </a:p>
          <a:p>
            <a:r>
              <a:rPr lang="en-US" altLang="en-US"/>
              <a:t> Customers with tenure less than 12 months showed the highest churn tendency</a:t>
            </a:r>
            <a:endParaRPr lang="en-US" altLang="en-US"/>
          </a:p>
          <a:p>
            <a:r>
              <a:rPr lang="en-US" altLang="en-US"/>
              <a:t> Customers without Tech Support and Online Security services were more likely to churn</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Conclusion:</a:t>
            </a:r>
            <a:endParaRPr lang="en-IN" altLang="en-US">
              <a:solidFill>
                <a:srgbClr val="FF0000"/>
              </a:solidFill>
              <a:latin typeface="Times New Roman" panose="02020603050405020304" charset="0"/>
              <a:cs typeface="Times New Roman" panose="02020603050405020304" charset="0"/>
            </a:endParaRPr>
          </a:p>
        </p:txBody>
      </p:sp>
      <p:sp>
        <p:nvSpPr>
          <p:cNvPr id="3" name="Text Placeholder 2"/>
          <p:cNvSpPr/>
          <p:nvPr>
            <p:ph type="body" idx="1"/>
          </p:nvPr>
        </p:nvSpPr>
        <p:spPr/>
        <p:txBody>
          <a:bodyPr>
            <a:normAutofit fontScale="90000" lnSpcReduction="20000"/>
          </a:bodyPr>
          <a:p>
            <a:r>
              <a:rPr lang="en-US" altLang="en-US">
                <a:sym typeface="+mn-ea"/>
              </a:rPr>
              <a:t>Customer churn is a critical issue that directly impacts business revenue and growth.</a:t>
            </a:r>
            <a:endParaRPr lang="en-US" altLang="en-US"/>
          </a:p>
          <a:p>
            <a:r>
              <a:rPr lang="en-US" altLang="en-US">
                <a:sym typeface="+mn-ea"/>
              </a:rPr>
              <a:t>The analysis identified key factors influencing churn, such as contract type, tenure, and monthly charges.</a:t>
            </a:r>
            <a:endParaRPr lang="en-US" altLang="en-US"/>
          </a:p>
          <a:p>
            <a:r>
              <a:rPr lang="en-US" altLang="en-US">
                <a:sym typeface="+mn-ea"/>
              </a:rPr>
              <a:t>Customers with short-term contracts and higher charges are more likely to churn.</a:t>
            </a:r>
            <a:endParaRPr lang="en-US" altLang="en-US"/>
          </a:p>
          <a:p>
            <a:r>
              <a:rPr lang="en-US" altLang="en-US">
                <a:sym typeface="+mn-ea"/>
              </a:rPr>
              <a:t>New customers show a higher tendency to leave compared to long-term customers.</a:t>
            </a:r>
            <a:endParaRPr lang="en-US" altLang="en-US"/>
          </a:p>
          <a:p>
            <a:r>
              <a:rPr lang="en-US" altLang="en-US">
                <a:sym typeface="+mn-ea"/>
              </a:rPr>
              <a:t>Using Power BI, meaningful insights were generated through interactive visualizations.</a:t>
            </a:r>
            <a:endParaRPr lang="en-US" altLang="en-US"/>
          </a:p>
          <a:p>
            <a:r>
              <a:rPr lang="en-US" altLang="en-US">
                <a:sym typeface="+mn-ea"/>
              </a:rPr>
              <a:t>These insights can help businesses take data-driven actions to improve customer retention.</a:t>
            </a:r>
            <a:endParaRPr lang="en-US" alt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solidFill>
                  <a:srgbClr val="FF0000"/>
                </a:solidFill>
                <a:latin typeface="Times New Roman" panose="02020603050405020304" charset="0"/>
                <a:cs typeface="Times New Roman" panose="02020603050405020304" charset="0"/>
              </a:rPr>
              <a:t>Business Recommendations</a:t>
            </a:r>
            <a:r>
              <a:rPr lang="en-IN" altLang="en-US">
                <a:solidFill>
                  <a:srgbClr val="FF0000"/>
                </a:solidFill>
              </a:rPr>
              <a:t> :</a:t>
            </a:r>
            <a:endParaRPr lang="en-IN" altLang="en-US">
              <a:solidFill>
                <a:srgbClr val="FF0000"/>
              </a:solidFill>
            </a:endParaRPr>
          </a:p>
        </p:txBody>
      </p:sp>
      <p:sp>
        <p:nvSpPr>
          <p:cNvPr id="3" name="Text Placeholder 2"/>
          <p:cNvSpPr/>
          <p:nvPr>
            <p:ph type="body" idx="1"/>
          </p:nvPr>
        </p:nvSpPr>
        <p:spPr/>
        <p:txBody>
          <a:bodyPr/>
          <a:p>
            <a:r>
              <a:rPr lang="en-US" altLang="en-US"/>
              <a:t>Improve onboarding experience for new customers to reduce early churn.</a:t>
            </a:r>
            <a:endParaRPr lang="en-US" altLang="en-US"/>
          </a:p>
          <a:p>
            <a:r>
              <a:rPr lang="en-US" altLang="en-US"/>
              <a:t>Improve fiber optic service quality and customer support.</a:t>
            </a:r>
            <a:endParaRPr lang="en-US" altLang="en-US"/>
          </a:p>
          <a:p>
            <a:r>
              <a:rPr lang="en-US" altLang="en-US"/>
              <a:t>Encourage customers to move from month-to-month plans to long-term contracts through discounts and offers.</a:t>
            </a:r>
            <a:endParaRPr lang="en-US" altLang="en-US"/>
          </a:p>
          <a:p>
            <a:r>
              <a:rPr lang="en-US" altLang="en-US"/>
              <a:t>Identify high-risk customers early and provide personalized retention offers.</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38200" y="365125"/>
            <a:ext cx="10515600" cy="5474335"/>
          </a:xfrm>
        </p:spPr>
        <p:txBody>
          <a:bodyPr/>
          <a:p>
            <a:r>
              <a:rPr lang="en-IN" altLang="en-US"/>
              <a:t>                  </a:t>
            </a:r>
            <a:r>
              <a:rPr lang="en-IN" altLang="en-US" sz="9600">
                <a:latin typeface="Arial Black" panose="020B0A04020102020204" charset="0"/>
                <a:cs typeface="Arial Black" panose="020B0A04020102020204" charset="0"/>
                <a:sym typeface="+mn-ea"/>
              </a:rPr>
              <a:t> </a:t>
            </a:r>
            <a:br>
              <a:rPr lang="en-IN" altLang="en-US" sz="9600">
                <a:latin typeface="Arial Black" panose="020B0A04020102020204" charset="0"/>
                <a:cs typeface="Arial Black" panose="020B0A04020102020204" charset="0"/>
                <a:sym typeface="+mn-ea"/>
              </a:rPr>
            </a:br>
            <a:r>
              <a:rPr lang="en-IN" altLang="en-US"/>
              <a:t>          </a:t>
            </a:r>
            <a:endParaRPr lang="en-IN" altLang="en-US" sz="9600">
              <a:latin typeface="Arial Black" panose="020B0A04020102020204" charset="0"/>
              <a:cs typeface="Arial Black" panose="020B0A04020102020204" charset="0"/>
            </a:endParaRPr>
          </a:p>
        </p:txBody>
      </p:sp>
      <p:pic>
        <p:nvPicPr>
          <p:cNvPr id="4" name="Picture 3"/>
          <p:cNvPicPr/>
          <p:nvPr/>
        </p:nvPicPr>
        <p:blipFill>
          <a:blip r:embed="rId1"/>
          <a:stretch>
            <a:fillRect/>
          </a:stretch>
        </p:blipFill>
        <p:spPr>
          <a:xfrm>
            <a:off x="3520440" y="1657350"/>
            <a:ext cx="4770120" cy="3162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3360</Words>
  <Application>WPS Presentation</Application>
  <PresentationFormat/>
  <Paragraphs>133</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SimSun</vt:lpstr>
      <vt:lpstr>Wingdings</vt:lpstr>
      <vt:lpstr>Arial</vt:lpstr>
      <vt:lpstr>Calibri</vt:lpstr>
      <vt:lpstr>Times New Roman</vt:lpstr>
      <vt:lpstr>Calibri</vt:lpstr>
      <vt:lpstr>Arial Black</vt:lpstr>
      <vt:lpstr>Libre Baskerville</vt:lpstr>
      <vt:lpstr>Microsoft YaHei</vt:lpstr>
      <vt:lpstr>Arial Unicode MS</vt:lpstr>
      <vt:lpstr>Office Theme</vt:lpstr>
      <vt:lpstr>PowerPoint 演示文稿</vt:lpstr>
      <vt:lpstr>About Me :</vt:lpstr>
      <vt:lpstr>Contents : </vt:lpstr>
      <vt:lpstr> Business Problem :</vt:lpstr>
      <vt:lpstr>Project Overview : </vt:lpstr>
      <vt:lpstr>Data Overview :</vt:lpstr>
      <vt:lpstr>Data Cleaning &amp; Transformation :</vt:lpstr>
      <vt:lpstr>DAX Measures:</vt:lpstr>
      <vt:lpstr>DashBoard 1: Customer Demographics Analysis</vt:lpstr>
      <vt:lpstr>DashBoard 2: Service Subscription Analysis</vt:lpstr>
      <vt:lpstr>DashBoard 3: Contract &amp; Billing Insights</vt:lpstr>
      <vt:lpstr>PowerPoint 演示文稿</vt:lpstr>
      <vt:lpstr>PowerPoint 演示文稿</vt:lpstr>
      <vt:lpstr>PowerPoint 演示文稿</vt:lpstr>
      <vt:lpstr>PowerPoint 演示文稿</vt:lpstr>
      <vt:lpstr>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Anneboina Hashritha</cp:lastModifiedBy>
  <cp:revision>12</cp:revision>
  <dcterms:created xsi:type="dcterms:W3CDTF">2026-05-11T10:23:00Z</dcterms:created>
  <dcterms:modified xsi:type="dcterms:W3CDTF">2026-05-16T09:27:59Z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F49CDBA815F14154BD6D08E3A27148ED_13</vt:lpwstr>
  </property>
</Properties>
</file>